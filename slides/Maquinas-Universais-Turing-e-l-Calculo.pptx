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strument Sans SemiBold"/>
      <p:regular r:id="rId201314"/>
    </p:embeddedFont>
    <p:embeddedFont>
      <p:font typeface="Instrument Sans Medium"/>
      <p:regular r:id="rId201315"/>
    </p:embeddedFont>
    <p:embeddedFont>
      <p:font typeface="Instrument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RodrigoMrqs/av2-teoria-da-computabilidade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88404"/>
            <a:ext cx="608588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AV2 — Teoria da Computabilidade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43992"/>
            <a:ext cx="8151763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Máquinas Universais, Turing e λ-Cálculo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496119" y="277936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Máquina de Turing Não Determinística (NDTM)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·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λ-Cálculo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3201070"/>
            <a:ext cx="8151763" cy="10567"/>
          </a:xfrm>
          <a:prstGeom prst="rect">
            <a:avLst/>
          </a:prstGeom>
          <a:solidFill>
            <a:srgbClr val="CFD0D8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3406527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João Pedro Silva da Silva · Rodrigo Marques Matos da Silva · Noam Geraldo Ismael Coelho · Analice Alves Johnston Pinheiro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Turma: CC5NA · Professor: Daniel Leal Souza · CESUPA · Semestre 01/2026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6119" y="4183856"/>
            <a:ext cx="1156841" cy="266402"/>
          </a:xfrm>
          <a:prstGeom prst="roundRect">
            <a:avLst>
              <a:gd name="adj" fmla="val 17880"/>
            </a:avLst>
          </a:prstGeom>
          <a:solidFill>
            <a:srgbClr val="252528"/>
          </a:solidFill>
          <a:ln/>
        </p:spPr>
      </p:sp>
      <p:sp>
        <p:nvSpPr>
          <p:cNvPr id="8" name="Text 6"/>
          <p:cNvSpPr/>
          <p:nvPr/>
        </p:nvSpPr>
        <p:spPr>
          <a:xfrm>
            <a:off x="581174" y="4226347"/>
            <a:ext cx="144393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OPÇÃO 4 — NDTM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23802" y="4179094"/>
            <a:ext cx="1481882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D5D5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13620" y="4226347"/>
            <a:ext cx="175944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5D5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OPÇÃO 7 — Λ-CÁLCULO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43049"/>
            <a:ext cx="450547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 que vamos apresentar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6955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91457"/>
            <a:ext cx="2622724" cy="19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000399"/>
            <a:ext cx="21727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NDTM — Definição Formal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306910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Definição formal e motivação da Máquina de Turing Não Determinística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60601" y="166955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601" y="1891457"/>
            <a:ext cx="2622724" cy="190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60601" y="2000399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NDTM — Reconhecimento de Palíndromos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260601" y="2528367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Aplicação ao reconhecimento de palíndromos sobre {a, b}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025083" y="166955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083" y="1891457"/>
            <a:ext cx="2622724" cy="190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25083" y="2000399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λ-Cálculo — Sintaxe e β-Redução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025083" y="2528367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Sintaxe formal, β-redução e numerais de Church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96119" y="323001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3437706"/>
            <a:ext cx="4004965" cy="190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96119" y="3560862"/>
            <a:ext cx="26855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λ-Cálculo — Avaliador Completo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96119" y="3867373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Expressões com booleanos de Church e aritmética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642842" y="323001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05</a:t>
            </a:r>
            <a:endParaRPr lang="en-US" sz="11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2842" y="3437706"/>
            <a:ext cx="4004965" cy="190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642842" y="3560862"/>
            <a:ext cx="22434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Hipótese de Church-Turing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4642842" y="3867373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Análise comparativa entre os dois modelos computacionais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62992"/>
            <a:ext cx="682220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Máquina de Turing Não Determinística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618580"/>
            <a:ext cx="4107135" cy="2561927"/>
          </a:xfrm>
          <a:prstGeom prst="roundRect">
            <a:avLst>
              <a:gd name="adj" fmla="val 3984"/>
            </a:avLst>
          </a:prstGeom>
          <a:solidFill>
            <a:srgbClr val="3D3D42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76033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Diferença Central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123554"/>
            <a:ext cx="3823618" cy="174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DTM: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δ: Q × Γ → Q × Γ × {L, R, S} — único destino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NDTM: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δ: Q × Γ → 𝒫(Q × Γ × {L, R, S}) — conjunto de destinos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Aceitação: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existe ao menos 1 ramo aceitante na árvore de computação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Simulação por BFS garante equivalência com DTM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760339"/>
            <a:ext cx="390294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Definição Formal — 7-tupla M = (Q, Σ, Γ, δ, q₀, q_acc, q_rej)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345010"/>
            <a:ext cx="3902943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10 estados (q0, q_right_a, q_right_b, q_back_a, q_back_b, q_return, q_center_a, q_center_b, q_accept, q_reject)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Σ = {a, b}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Γ = {a, b, X, $, _}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δ: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40 entradas, 2 com grau ND = 2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q₀ = q0 · q_acc = q_accept · q_rej = q_reject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2420"/>
            <a:ext cx="8151763" cy="8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Linguagem Reconhecida: L_pal = { w ∈ {a,b}* | w = wᴿ }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623194"/>
            <a:ext cx="4043139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Estratégia: Apagamento de Fora para Dentro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970708"/>
            <a:ext cx="3908375" cy="1267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1000"/>
              </a:lnSpc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Marca o símbolo mais à esquerda com X</a:t>
            </a:r>
            <a:endParaRPr lang="en-US" sz="1050" dirty="0"/>
          </a:p>
          <a:p>
            <a:pPr algn="l" marL="342900" indent="-342900">
              <a:lnSpc>
                <a:spcPct val="131000"/>
              </a:lnSpc>
              <a:buSzPct val="100000"/>
              <a:buFont typeface="+mj-lt"/>
              <a:buAutoNum type="arabicPeriod" startAt="2"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Varre a fita até o fim</a:t>
            </a:r>
            <a:endParaRPr lang="en-US" sz="1050" dirty="0"/>
          </a:p>
          <a:p>
            <a:pPr algn="l" marL="342900" indent="-342900">
              <a:lnSpc>
                <a:spcPct val="131000"/>
              </a:lnSpc>
              <a:buSzPct val="100000"/>
              <a:buFont typeface="+mj-lt"/>
              <a:buAutoNum type="arabicPeriod" startAt="3"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Verifica se o símbolo mais à direita é igual ao marcado</a:t>
            </a:r>
            <a:endParaRPr lang="en-US" sz="1050" dirty="0"/>
          </a:p>
          <a:p>
            <a:pPr algn="l" marL="342900" indent="-342900">
              <a:lnSpc>
                <a:spcPct val="131000"/>
              </a:lnSpc>
              <a:buSzPct val="100000"/>
              <a:buFont typeface="+mj-lt"/>
              <a:buAutoNum type="arabicPeriod" startAt="4"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Marca com X e reinicia no início</a:t>
            </a:r>
            <a:endParaRPr lang="en-US" sz="1050" dirty="0"/>
          </a:p>
          <a:p>
            <a:pPr algn="l" marL="342900" indent="-342900">
              <a:lnSpc>
                <a:spcPct val="131000"/>
              </a:lnSpc>
              <a:buSzPct val="100000"/>
              <a:buFont typeface="+mj-lt"/>
              <a:buAutoNum type="arabicPeriod" startAt="5"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Aceita quando só restam X e _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96119" y="3387998"/>
            <a:ext cx="3908375" cy="1173361"/>
          </a:xfrm>
          <a:prstGeom prst="roundRect">
            <a:avLst>
              <a:gd name="adj" fmla="val 4916"/>
            </a:avLst>
          </a:prstGeom>
          <a:solidFill>
            <a:srgbClr val="02234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413" y="3596580"/>
            <a:ext cx="171599" cy="1372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2305" y="3542035"/>
            <a:ext cx="3324895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Não-determinismo em q0: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ao ler 'a' ou 'b', dois ramos simultâneos — Ramo A trata como par externo (palíndromo par); Ramo B adivinha símbolo central (palíndromo ímpar).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44269" y="1623194"/>
            <a:ext cx="350564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Resultados dos Testes (21/21 corretos)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744269" y="1987376"/>
            <a:ext cx="3908375" cy="2345680"/>
          </a:xfrm>
          <a:prstGeom prst="roundRect">
            <a:avLst>
              <a:gd name="adj" fmla="val 2459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86474" y="2076673"/>
            <a:ext cx="115490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Entrada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863530" y="2076673"/>
            <a:ext cx="115252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Esperado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38206" y="2076673"/>
            <a:ext cx="115252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Ramos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812881" y="2076673"/>
            <a:ext cx="115490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Passos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886474" y="2466826"/>
            <a:ext cx="115490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"" (vazia)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863530" y="2466826"/>
            <a:ext cx="115252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ACEITA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838206" y="2466826"/>
            <a:ext cx="115252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812881" y="2466826"/>
            <a:ext cx="115490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886474" y="2856979"/>
            <a:ext cx="115490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"aba"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863530" y="2856979"/>
            <a:ext cx="115252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ACEITA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838206" y="2856979"/>
            <a:ext cx="115252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18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812881" y="2856979"/>
            <a:ext cx="115490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12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86474" y="3247132"/>
            <a:ext cx="115490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"abba"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863530" y="3247132"/>
            <a:ext cx="115252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ACEITA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838206" y="3247132"/>
            <a:ext cx="115252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30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812881" y="3247132"/>
            <a:ext cx="115490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25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886474" y="3637285"/>
            <a:ext cx="115490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"ab"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863530" y="3637285"/>
            <a:ext cx="115252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REJEITA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838206" y="3637285"/>
            <a:ext cx="115252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6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812881" y="3637285"/>
            <a:ext cx="115490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886474" y="4027438"/>
            <a:ext cx="115490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"abab"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863530" y="4027438"/>
            <a:ext cx="115252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REJEITA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838206" y="4027438"/>
            <a:ext cx="115252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7812881" y="4027438"/>
            <a:ext cx="115490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408087"/>
            <a:ext cx="4589636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Árvore de Computação para "aba"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225" y="886271"/>
            <a:ext cx="7067476" cy="34742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96523" y="1202553"/>
            <a:ext cx="1616266" cy="202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Ramo Direito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496523" y="1462053"/>
            <a:ext cx="3268450" cy="140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q_center_a verifica fim (rejeita)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496523" y="2014278"/>
            <a:ext cx="1616266" cy="202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Subdivisão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496523" y="2273778"/>
            <a:ext cx="3268450" cy="140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[q0, $XXX_] → q_right_b (rejeita) / q_center_b (aceita)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496523" y="2826003"/>
            <a:ext cx="1616266" cy="202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Ramo Esquerdo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496523" y="3085503"/>
            <a:ext cx="3268450" cy="140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q_right_a → q_back_a → q_return → q0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03706" y="3637727"/>
            <a:ext cx="1616266" cy="202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Estado Inicial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03706" y="3897228"/>
            <a:ext cx="3268449" cy="140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[q0, $Xba_]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80182" y="4446463"/>
            <a:ext cx="7183562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árvore ilustra como a NDTM explora simultaneamente múltiplos ramos de computação. O BFS garante encontrar o ramo aceitante com </a:t>
            </a:r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7 ramos explorados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 </a:t>
            </a:r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11 passos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no caminho vencedor.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7743"/>
            <a:ext cx="4722763" cy="80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λ-Cálculo — Formalismo de Church (1930s)</a:t>
            </a:r>
            <a:endParaRPr lang="en-US" sz="2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1831" y="1375246"/>
            <a:ext cx="4737050" cy="9478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1707" y="1517972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Gramática BNF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681707" y="1788468"/>
            <a:ext cx="439444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&lt;term&gt; ::= &lt;var&gt; | (λ &lt;var&gt; . &lt;term&gt;) ←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abstração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(função anônima) | (&lt;term&gt; &lt;term&gt;) ←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aplicação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(associativa à esquerda)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1831" y="2439442"/>
            <a:ext cx="4737050" cy="121354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81707" y="2582168"/>
            <a:ext cx="214319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Única Regra de Computação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681707" y="2852663"/>
            <a:ext cx="4394448" cy="657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7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(λx.M) N →β M[x := N]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Estratégia: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ordem normal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(leftmost-outermost) — garante encontrar a forma normal se ela existir (Teorema de Church-Rosser)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1831" y="3769370"/>
            <a:ext cx="4737050" cy="97638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1707" y="3912096"/>
            <a:ext cx="203738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Operações Implementadas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681707" y="4182591"/>
            <a:ext cx="4394448" cy="420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FD0D8"/>
                </a:solidFill>
                <a:highlight>
                  <a:srgbClr val="37373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free_vars(t)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· 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FD0D8"/>
                </a:solidFill>
                <a:highlight>
                  <a:srgbClr val="37373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bound_vars(t)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· 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FD0D8"/>
                </a:solidFill>
                <a:highlight>
                  <a:srgbClr val="37373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subst(t, var, repl)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substituição captura-evitante · 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FD0D8"/>
                </a:solidFill>
                <a:highlight>
                  <a:srgbClr val="37373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alpha_equiv(t1, t2)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· 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FD0D8"/>
                </a:solidFill>
                <a:highlight>
                  <a:srgbClr val="37373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beta_step(t)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· 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FD0D8"/>
                </a:solidFill>
                <a:highlight>
                  <a:srgbClr val="37373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reduce(t)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2913"/>
            <a:ext cx="71198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Tudo é Função — Codificação de Church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098500"/>
            <a:ext cx="4107135" cy="3602087"/>
          </a:xfrm>
          <a:prstGeom prst="roundRect">
            <a:avLst>
              <a:gd name="adj" fmla="val 2834"/>
            </a:avLst>
          </a:prstGeom>
          <a:solidFill>
            <a:srgbClr val="3D3D42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24025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Numerais de Church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1603474"/>
            <a:ext cx="3823618" cy="2352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n̄ = λf.λx.fⁿ(x)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ZERO = λf.λx.x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ONE = λf.λx.f x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TWO = λf.λx.f(f x)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SUCC = λn.λf.λx.f(n f x)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ADD = λm.λn.λf.λx.m f (n f x)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 = λm.λn.λf.m(n f)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24025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Booleanos de Church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1603474"/>
            <a:ext cx="3902943" cy="199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TRUE = λt.λf.t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FALSE = λt.λf.f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AND = λp.λq.p q p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 = λp.λq.p p q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NOT = λp.λa.λb.p b a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IF = λp.λa.λb.p a 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49701" y="3761556"/>
            <a:ext cx="3902943" cy="779562"/>
          </a:xfrm>
          <a:prstGeom prst="roundRect">
            <a:avLst>
              <a:gd name="adj" fmla="val 7638"/>
            </a:avLst>
          </a:prstGeom>
          <a:solidFill>
            <a:srgbClr val="25252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1460" y="3976613"/>
            <a:ext cx="177180" cy="14175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10398" y="3924523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Não há tipos primitivos — números, booleanos e operações são apenas λ-expressões.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415082"/>
            <a:ext cx="4054376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β-Reduções Passo a Passo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98066" y="1008906"/>
            <a:ext cx="3345954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Exemplo 1 — ADD 1 1 → Church(2) · 6 passos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8066" y="1282378"/>
            <a:ext cx="3833366" cy="925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650"/>
              </a:spcAft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(λm.λn.λf.λx.m f (n f x)) (λf.λx.f x) (λf.λx.f x)</a:t>
            </a:r>
            <a:endParaRPr lang="en-US" sz="900" dirty="0"/>
          </a:p>
          <a:p>
            <a:pPr algn="l" indent="0" marL="0">
              <a:lnSpc>
                <a:spcPct val="121000"/>
              </a:lnSpc>
              <a:spcAft>
                <a:spcPts val="650"/>
              </a:spcAft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→ λf.λx.(λf.λx.f x) f ((λf.λx.f x) f x)</a:t>
            </a:r>
            <a:endParaRPr lang="en-US" sz="900" dirty="0"/>
          </a:p>
          <a:p>
            <a:pPr algn="l" indent="0" marL="0">
              <a:lnSpc>
                <a:spcPct val="121000"/>
              </a:lnSpc>
              <a:spcAft>
                <a:spcPts val="650"/>
              </a:spcAft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→ λf.λx.f ((λx.f x) x)</a:t>
            </a:r>
            <a:endParaRPr lang="en-US" sz="9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→ </a:t>
            </a:r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λf.λx.f (f x) 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✅</a:t>
            </a:r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Church(2)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17182" y="1008906"/>
            <a:ext cx="334119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Exemplo 2 — NOT TRUE → FALSE · 3 passos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17182" y="1282378"/>
            <a:ext cx="3833366" cy="925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650"/>
              </a:spcAft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(λp.λa.λb.p b a) (λt.λf.t)</a:t>
            </a:r>
            <a:endParaRPr lang="en-US" sz="900" dirty="0"/>
          </a:p>
          <a:p>
            <a:pPr algn="l" indent="0" marL="0">
              <a:lnSpc>
                <a:spcPct val="121000"/>
              </a:lnSpc>
              <a:spcAft>
                <a:spcPts val="650"/>
              </a:spcAft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→ λa.λb.(λt.λf.t) b a</a:t>
            </a:r>
            <a:endParaRPr lang="en-US" sz="900" dirty="0"/>
          </a:p>
          <a:p>
            <a:pPr algn="l" indent="0" marL="0">
              <a:lnSpc>
                <a:spcPct val="121000"/>
              </a:lnSpc>
              <a:spcAft>
                <a:spcPts val="650"/>
              </a:spcAft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→ λa.λb.(λf.b) a</a:t>
            </a:r>
            <a:endParaRPr lang="en-US" sz="9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→ </a:t>
            </a:r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λa.λb.b 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✅</a:t>
            </a:r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α-equiv FALSE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8066" y="2396951"/>
            <a:ext cx="7947794" cy="2059186"/>
          </a:xfrm>
          <a:prstGeom prst="roundRect">
            <a:avLst>
              <a:gd name="adj" fmla="val 2349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8021" y="2462585"/>
            <a:ext cx="221151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#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02570" y="2462585"/>
            <a:ext cx="221151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Operação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87119" y="2462585"/>
            <a:ext cx="221151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Resultado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71667" y="2462585"/>
            <a:ext cx="221151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Passos β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8021" y="2756074"/>
            <a:ext cx="221151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1–3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02570" y="2756074"/>
            <a:ext cx="221151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Combinadores I, K, 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87119" y="2756074"/>
            <a:ext cx="221151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z / a / z z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71667" y="2756074"/>
            <a:ext cx="221151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1, 2, 5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8021" y="3049563"/>
            <a:ext cx="221151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4–5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02570" y="3049563"/>
            <a:ext cx="221151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SUCC 0, ADD 1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87119" y="3049563"/>
            <a:ext cx="221151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Church(1), Church(2)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71667" y="3049563"/>
            <a:ext cx="221151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3, 6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8021" y="3343052"/>
            <a:ext cx="221151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6–7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02570" y="3343052"/>
            <a:ext cx="221151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AND/NOT booleanos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87119" y="3343052"/>
            <a:ext cx="221151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α≡ FALSE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71667" y="3343052"/>
            <a:ext cx="221151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4, 3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8021" y="3636541"/>
            <a:ext cx="221151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02570" y="3636541"/>
            <a:ext cx="221151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 2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87119" y="3636541"/>
            <a:ext cx="221151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Church(4)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71667" y="3636541"/>
            <a:ext cx="221151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8021" y="3930030"/>
            <a:ext cx="221151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9–10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02570" y="3930030"/>
            <a:ext cx="221151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IF TRUE, OR FALSE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87119" y="3930030"/>
            <a:ext cx="221151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x / α≡ TRUE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71667" y="3930030"/>
            <a:ext cx="221151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5, 4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8021" y="4223519"/>
            <a:ext cx="221151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02570" y="4223519"/>
            <a:ext cx="221151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Ω (divergência)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87119" y="4223519"/>
            <a:ext cx="221151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Sem forma normal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71667" y="4223519"/>
            <a:ext cx="221151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∞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8066" y="4561359"/>
            <a:ext cx="840499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Total: 40 β-reduções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nos 10 exemplos com forma normal (mais de 7 exigidos).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9452" y="389855"/>
            <a:ext cx="614675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Os Dois Modelos sob a Hipótese de Church-Turing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209452" y="1364010"/>
            <a:ext cx="16755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Análise Comparativa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209452" y="1591642"/>
            <a:ext cx="3243635" cy="2019895"/>
          </a:xfrm>
          <a:prstGeom prst="roundRect">
            <a:avLst>
              <a:gd name="adj" fmla="val 2027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12143" y="1641351"/>
            <a:ext cx="133774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Propriedade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392263" y="1641351"/>
            <a:ext cx="1335360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NDTM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470002" y="1641351"/>
            <a:ext cx="133774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λ-Cálculo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312143" y="1867570"/>
            <a:ext cx="880542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Poder computacional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392263" y="1867570"/>
            <a:ext cx="1335360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= DTM (BFS)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470002" y="1867570"/>
            <a:ext cx="880542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= DTM (Church &amp; Turing, 1936)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312143" y="2225353"/>
            <a:ext cx="880542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Linguagens / Funções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392263" y="2225353"/>
            <a:ext cx="1335360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Rec. enumeráveis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470002" y="2225353"/>
            <a:ext cx="880542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Funções computáveis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312143" y="2583135"/>
            <a:ext cx="133774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Terminação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392263" y="2583135"/>
            <a:ext cx="878160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Decidível para L_pal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0002" y="2583135"/>
            <a:ext cx="880542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Não garantida (ex.: Ω)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312143" y="2940918"/>
            <a:ext cx="133774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Não-determinismo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392263" y="2940918"/>
            <a:ext cx="878160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Explícito — δ multivalorada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470002" y="2940918"/>
            <a:ext cx="880542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Confluência (Church-Rosser)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312143" y="3298701"/>
            <a:ext cx="133774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Problema resolvido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392263" y="3298701"/>
            <a:ext cx="878160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Reconhecimento de palíndromos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470002" y="3298701"/>
            <a:ext cx="880542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Aritmética e lógica com Church</a:t>
            </a:r>
            <a:endParaRPr lang="en-US" sz="7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5527" y="870198"/>
            <a:ext cx="3243635" cy="3243635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355601" y="4339977"/>
            <a:ext cx="6578873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Ambos os formalismos capturam exatamente a mesma classe de algoritmos. NDTM e λ-Cálculo são faces diferentes da mesma tese: todo algoritmo pode ser expresso como uma Máquina de Turing.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418802"/>
            <a:ext cx="378172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Conclusão e Entregáveis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98066" y="965895"/>
            <a:ext cx="2586856" cy="976759"/>
          </a:xfrm>
          <a:prstGeom prst="roundRect">
            <a:avLst>
              <a:gd name="adj" fmla="val 4953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7947" y="1085776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NDTM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7947" y="1321817"/>
            <a:ext cx="2347094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10 estados, 40 transições, 2 pontos ND — reconhece L_pal com BFS — </a:t>
            </a:r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21/21 testes corretos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78460" y="965895"/>
            <a:ext cx="2586930" cy="976759"/>
          </a:xfrm>
          <a:prstGeom prst="roundRect">
            <a:avLst>
              <a:gd name="adj" fmla="val 4953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98341" y="1085776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λ-Cálculo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98341" y="1321817"/>
            <a:ext cx="2347168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Avaliador com substituição captura-evitante, α-equivalência — </a:t>
            </a:r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11 exemplos, 40 passos β totais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58929" y="965895"/>
            <a:ext cx="2586856" cy="976759"/>
          </a:xfrm>
          <a:prstGeom prst="roundRect">
            <a:avLst>
              <a:gd name="adj" fmla="val 4953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78810" y="1085776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Church-Turing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78810" y="1321817"/>
            <a:ext cx="2347094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Ambos os modelos demonstram a Hipótese de Church-Turing na prática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8066" y="2141413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Execução ao Vivo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066" y="2426568"/>
            <a:ext cx="3833366" cy="1065163"/>
          </a:xfrm>
          <a:prstGeom prst="roundRect">
            <a:avLst>
              <a:gd name="adj" fmla="val 4542"/>
            </a:avLst>
          </a:prstGeom>
          <a:solidFill>
            <a:srgbClr val="37373A"/>
          </a:solidFill>
          <a:ln/>
        </p:spPr>
      </p:sp>
      <p:sp>
        <p:nvSpPr>
          <p:cNvPr id="14" name="Shape 12"/>
          <p:cNvSpPr/>
          <p:nvPr/>
        </p:nvSpPr>
        <p:spPr>
          <a:xfrm>
            <a:off x="592336" y="2426568"/>
            <a:ext cx="3844826" cy="1065163"/>
          </a:xfrm>
          <a:prstGeom prst="roundRect">
            <a:avLst>
              <a:gd name="adj" fmla="val 1622"/>
            </a:avLst>
          </a:prstGeom>
          <a:solidFill>
            <a:srgbClr val="37373A"/>
          </a:solidFill>
          <a:ln/>
        </p:spPr>
      </p:sp>
      <p:sp>
        <p:nvSpPr>
          <p:cNvPr id="15" name="Text 13"/>
          <p:cNvSpPr/>
          <p:nvPr/>
        </p:nvSpPr>
        <p:spPr>
          <a:xfrm>
            <a:off x="736253" y="2541687"/>
            <a:ext cx="3556992" cy="8349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8B949E"/>
                </a:solidFill>
                <a:highlight>
                  <a:srgbClr val="37373A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# NDTM</a:t>
            </a:r>
            <a:endParaRPr lang="en-US" sz="9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8B949E"/>
                </a:solidFill>
                <a:highlight>
                  <a:srgbClr val="37373A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python implementacoes/ndtm_palindromos.py</a:t>
            </a:r>
            <a:endParaRPr lang="en-US" sz="900" dirty="0"/>
          </a:p>
          <a:p>
            <a:pPr algn="l" indent="0" marL="0">
              <a:lnSpc>
                <a:spcPct val="121000"/>
              </a:lnSpc>
              <a:buNone/>
            </a:pPr>
            <a:endParaRPr lang="en-US" sz="9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8B949E"/>
                </a:solidFill>
                <a:highlight>
                  <a:srgbClr val="37373A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# λ-Cálculo</a:t>
            </a:r>
            <a:endParaRPr lang="en-US" sz="9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8B949E"/>
                </a:solidFill>
                <a:highlight>
                  <a:srgbClr val="37373A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python implementacoes/lambda_calculus.py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8066" y="3596953"/>
            <a:ext cx="4290566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Repositório: </a:t>
            </a:r>
            <a:pPr algn="l" indent="0" marL="0">
              <a:lnSpc>
                <a:spcPct val="121000"/>
              </a:lnSpc>
              <a:buNone/>
            </a:pPr>
            <a:r>
              <a:rPr lang="en-US" sz="900" u="sng" dirty="0">
                <a:solidFill>
                  <a:srgbClr val="D5D5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github.com/RodrigoMrqs/av2-teoria-da-computabilidade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17182" y="2141413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Referências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7182" y="2414885"/>
            <a:ext cx="3833366" cy="1666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1000"/>
              </a:lnSpc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DIVERIO &amp; MENEZES. </a:t>
            </a:r>
            <a:pPr algn="l" marL="342900" indent="-342900">
              <a:lnSpc>
                <a:spcPct val="121000"/>
              </a:lnSpc>
              <a:buSzPct val="100000"/>
              <a:buFont typeface="+mj-lt"/>
              <a:buAutoNum type="arabicPeriod" startAt="1"/>
            </a:pPr>
            <a:r>
              <a:rPr lang="en-US" sz="900" i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Teoria da Computação</a:t>
            </a:r>
            <a:pPr algn="l" marL="342900" indent="-342900">
              <a:lnSpc>
                <a:spcPct val="121000"/>
              </a:lnSpc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Bookman, 2011.</a:t>
            </a:r>
            <a:endParaRPr lang="en-US" sz="900" dirty="0"/>
          </a:p>
          <a:p>
            <a:pPr algn="l" marL="342900" indent="-342900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SIPSER, M. </a:t>
            </a:r>
            <a:pPr algn="l" marL="342900" indent="-342900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900" i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Introduction to the Theory of Computation</a:t>
            </a:r>
            <a:pPr algn="l" marL="342900" indent="-342900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Cengage, 2013.</a:t>
            </a:r>
            <a:endParaRPr lang="en-US" sz="900" dirty="0"/>
          </a:p>
          <a:p>
            <a:pPr algn="l" marL="342900" indent="-342900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CHURCH, A. </a:t>
            </a:r>
            <a:pPr algn="l" marL="342900" indent="-342900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900" i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 unsolvable problem of elementary number theory</a:t>
            </a:r>
            <a:pPr algn="l" marL="342900" indent="-342900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Am. J. Math., 1936.</a:t>
            </a:r>
            <a:endParaRPr lang="en-US" sz="900" dirty="0"/>
          </a:p>
          <a:p>
            <a:pPr algn="l" marL="342900" indent="-342900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TURING, A. M. </a:t>
            </a:r>
            <a:pPr algn="l" marL="342900" indent="-342900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900" i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 computable numbers</a:t>
            </a:r>
            <a:pPr algn="l" marL="342900" indent="-342900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Proc. London Math. Soc., 1937.</a:t>
            </a:r>
            <a:endParaRPr lang="en-US" sz="900" dirty="0"/>
          </a:p>
          <a:p>
            <a:pPr algn="l" marL="342900" indent="-342900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BARENDREGT, H. P. </a:t>
            </a:r>
            <a:pPr algn="l" marL="342900" indent="-342900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900" i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Lambda Calculus</a:t>
            </a:r>
            <a:pPr algn="l" marL="342900" indent="-342900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North-Holland, 1984.</a:t>
            </a:r>
            <a:endParaRPr lang="en-US" sz="900" dirty="0"/>
          </a:p>
          <a:p>
            <a:pPr algn="l" marL="342900" indent="-342900">
              <a:lnSpc>
                <a:spcPct val="121000"/>
              </a:lnSpc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Slides da disciplina — Prof. Daniel Leal Souza, CESUPA, 2026.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8066" y="4248150"/>
            <a:ext cx="7947794" cy="8632"/>
          </a:xfrm>
          <a:prstGeom prst="rect">
            <a:avLst/>
          </a:prstGeom>
          <a:solidFill>
            <a:srgbClr val="CFD0D8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98066" y="4390727"/>
            <a:ext cx="7947794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João Pedro Silva da Silva · Rodrigo Marques Matos da Silva · Noam Geraldo Ismael Coelho · Analice Alves Johnston Pinheiro — CESUPA · Teoria da Computabilidade · 01/2026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D5D5D8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2026-06-12T17:36:50Z</dcterms:created>
  <dcterms:modified xsi:type="dcterms:W3CDTF">2026-06-12T17:36:50Z</dcterms:modified>
</cp:coreProperties>
</file>